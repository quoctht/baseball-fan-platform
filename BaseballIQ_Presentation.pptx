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06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6217920" y="64008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51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Baseball IQ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0292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Pre-Game Intelligence for MLB Fans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063240"/>
            <a:ext cx="12801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32918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67128" y="32918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67128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31336" y="32918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31336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95544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95544" y="3295633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95544" y="3295633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2"/>
          <p:cNvSpPr/>
          <p:nvPr/>
        </p:nvSpPr>
        <p:spPr>
          <a:xfrm>
            <a:off x="411480" y="4462272"/>
            <a:ext cx="8321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92C0FAE-AD7A-FCE1-5A20-A4A65A1C8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98" y="1952124"/>
            <a:ext cx="4207581" cy="297270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935" y="13030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50292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5321D1A-76C9-04AB-8767-01F07F178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93" y="660428"/>
            <a:ext cx="1895955" cy="341071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CC29742-685C-5292-4B2D-B9BE4FDE4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140" y="660428"/>
            <a:ext cx="2074959" cy="34107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517347D-1B42-1825-C405-0B7B96142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1619" y="4204320"/>
            <a:ext cx="3542048" cy="77430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2694ABD-519B-FC8C-F0F6-EA003F81B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4698" y="164871"/>
            <a:ext cx="4207581" cy="164106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4CDCDF0-3666-73A0-6676-D5B4DD8F2D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442" y="4103337"/>
            <a:ext cx="2221609" cy="9167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9169" y="19572"/>
            <a:ext cx="894283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LLM's Role &amp; Key Decisions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19356"/>
            <a:ext cx="2558672" cy="1394330"/>
          </a:xfrm>
          <a:prstGeom prst="rect">
            <a:avLst/>
          </a:prstGeom>
          <a:solidFill>
            <a:srgbClr val="162032"/>
          </a:solidFill>
          <a:ln w="1905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098737"/>
            <a:ext cx="475488" cy="475488"/>
          </a:xfrm>
          <a:prstGeom prst="ellipse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9873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1098737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43307"/>
            <a:ext cx="245973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Open source, zero costs and data on-device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Hallucination risks with any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Constraint in the prompt</a:t>
            </a:r>
          </a:p>
        </p:txBody>
      </p:sp>
      <p:sp>
        <p:nvSpPr>
          <p:cNvPr id="11" name="Shape 9"/>
          <p:cNvSpPr/>
          <p:nvPr/>
        </p:nvSpPr>
        <p:spPr>
          <a:xfrm>
            <a:off x="3057339" y="1033531"/>
            <a:ext cx="2822572" cy="1380155"/>
          </a:xfrm>
          <a:prstGeom prst="rect">
            <a:avLst/>
          </a:prstGeom>
          <a:solidFill>
            <a:srgbClr val="162032"/>
          </a:solidFill>
          <a:ln w="19050">
            <a:solidFill>
              <a:srgbClr val="D4A9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42132" y="1085824"/>
            <a:ext cx="475488" cy="475488"/>
          </a:xfrm>
          <a:prstGeom prst="ellipse">
            <a:avLst/>
          </a:prstGeom>
          <a:solidFill>
            <a:srgbClr val="D4A94E"/>
          </a:solidFill>
          <a:ln w="12700">
            <a:solidFill>
              <a:srgbClr val="D4A9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42132" y="1085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27348" y="1085824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1904" y="1601657"/>
            <a:ext cx="2459736" cy="716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System prompt separates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Exact stats are injected verbatim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Qualitative context retrieved from source</a:t>
            </a:r>
          </a:p>
          <a:p>
            <a:pPr marL="0" indent="0" algn="l">
              <a:buNone/>
            </a:pPr>
            <a:endParaRPr lang="en-US" sz="1150" dirty="0">
              <a:solidFill>
                <a:srgbClr val="D6DC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762" y="1008679"/>
            <a:ext cx="2788920" cy="2162889"/>
          </a:xfrm>
          <a:prstGeom prst="rect">
            <a:avLst/>
          </a:prstGeom>
          <a:solidFill>
            <a:srgbClr val="162032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7658" y="1085824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7658" y="1085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2874" y="1085824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686939"/>
            <a:ext cx="245973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reasons first, then calls the right tool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</a:t>
            </a:r>
            <a:r>
              <a:rPr lang="en-US" sz="1150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get_exact_matchup_stats</a:t>
            </a: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numeric (Pandas)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query_qualitative_data</a:t>
            </a: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semantic (</a:t>
            </a:r>
            <a:r>
              <a:rPr lang="en-US" sz="1150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Hybrid RAG — model drives retrieval, not hardcoded logic</a:t>
            </a:r>
          </a:p>
          <a:p>
            <a:pPr algn="l"/>
            <a:endParaRPr lang="en-US" sz="115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8CF1DBD9-8BE5-CB03-58E4-6548BDB50A64}"/>
              </a:ext>
            </a:extLst>
          </p:cNvPr>
          <p:cNvSpPr/>
          <p:nvPr/>
        </p:nvSpPr>
        <p:spPr>
          <a:xfrm>
            <a:off x="420624" y="3533272"/>
            <a:ext cx="8519922" cy="725487"/>
          </a:xfrm>
          <a:prstGeom prst="rect">
            <a:avLst/>
          </a:prstGeom>
          <a:solidFill>
            <a:srgbClr val="0A1628"/>
          </a:solidFill>
          <a:ln w="12700">
            <a:solidFill>
              <a:srgbClr val="D4A94E"/>
            </a:solidFill>
            <a:prstDash val="solid"/>
          </a:ln>
        </p:spPr>
        <p:txBody>
          <a:bodyPr/>
          <a:lstStyle/>
          <a:p>
            <a:endParaRPr lang="en-US" sz="700" b="1" dirty="0">
              <a:solidFill>
                <a:srgbClr val="D4A94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50" b="1" dirty="0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RULES:</a:t>
            </a:r>
          </a:p>
          <a:p>
            <a:r>
              <a:rPr lang="en-US" sz="1050" b="1" dirty="0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For stats → call </a:t>
            </a:r>
            <a:r>
              <a:rPr lang="en-US" sz="1050" b="1" dirty="0" err="1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get_exact_matchup_stats</a:t>
            </a:r>
            <a:r>
              <a:rPr lang="en-US" sz="1050" b="1" dirty="0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DO NOT invent numbers.</a:t>
            </a:r>
          </a:p>
          <a:p>
            <a:r>
              <a:rPr lang="en-US" sz="1050" b="1" dirty="0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context → call </a:t>
            </a:r>
            <a:r>
              <a:rPr lang="en-US" sz="1050" b="1" dirty="0" err="1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query_qualitative_data</a:t>
            </a:r>
            <a:r>
              <a:rPr lang="en-US" sz="1050" b="1" dirty="0">
                <a:solidFill>
                  <a:srgbClr val="D4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</a:p>
          <a:p>
            <a:endParaRPr lang="en-US" sz="1050" b="1" dirty="0">
              <a:solidFill>
                <a:srgbClr val="D4A94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en-US" sz="1050" b="1" dirty="0">
              <a:solidFill>
                <a:srgbClr val="D4A94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en-US" sz="7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A3E4B85D-DB0E-BB22-468C-DC00CF953B87}"/>
              </a:ext>
            </a:extLst>
          </p:cNvPr>
          <p:cNvSpPr/>
          <p:nvPr/>
        </p:nvSpPr>
        <p:spPr>
          <a:xfrm>
            <a:off x="612648" y="4377889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+mj-lt"/>
                <a:ea typeface="Consolas" pitchFamily="34" charset="-122"/>
                <a:cs typeface="Consolas" pitchFamily="34" charset="-120"/>
              </a:rPr>
              <a:t>Actual system prompt is longer and more concise!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Baseball IQ in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3035808"/>
          </a:xfrm>
          <a:prstGeom prst="rect">
            <a:avLst/>
          </a:prstGeom>
          <a:solidFill>
            <a:srgbClr val="E8E2D8"/>
          </a:solidFill>
          <a:ln w="19050">
            <a:solidFill>
              <a:srgbClr val="D6DC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1381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4645152"/>
            <a:ext cx="83667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F59B3-D1E2-0BB8-52CE-078490DB7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888663"/>
            <a:ext cx="4322310" cy="3756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551543-88E5-D046-5D7B-B3892CC7D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982" y="385974"/>
            <a:ext cx="3838470" cy="20444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8375A2-A85B-726F-BFF8-1DACCB6F5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991" y="2571750"/>
            <a:ext cx="3178452" cy="2322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Evaluation, Results &amp; Honest Reflection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0824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evaluated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373911"/>
            <a:ext cx="41879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/>
              <a:t>Manual review of generated briefs — checking for hallucinated stats, source attribution, and whether qualitative context actually changed the output</a:t>
            </a:r>
          </a:p>
        </p:txBody>
      </p:sp>
      <p:sp>
        <p:nvSpPr>
          <p:cNvPr id="13" name="Text 11"/>
          <p:cNvSpPr/>
          <p:nvPr/>
        </p:nvSpPr>
        <p:spPr>
          <a:xfrm>
            <a:off x="397764" y="296093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1748" y="296093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62272" y="2960935"/>
            <a:ext cx="0" cy="1901952"/>
          </a:xfrm>
          <a:prstGeom prst="line">
            <a:avLst/>
          </a:prstGeom>
          <a:noFill/>
          <a:ln w="12700">
            <a:solidFill>
              <a:srgbClr val="D6DC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" y="3326695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6948" y="3290119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routing prevented hallucinated numbers in briefs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" y="3802183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" y="3765607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role-separation kept LLM in narrator role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" y="4277671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6948" y="4241095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charts made umpire data readable at a glance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3343381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70932" y="3348751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/>
              <a:t>Use cosine similarity to automate hallucination detection</a:t>
            </a:r>
            <a:r>
              <a:rPr lang="en-US" sz="1100" dirty="0"/>
              <a:t> — embed the brief and source data, flag any stat with no close vector match</a:t>
            </a: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394020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70932" y="386434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scraping is brittle — need a more stable sentiment source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44074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70932" y="42976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Should have established a rubric for brief quality before generating the first one</a:t>
            </a:r>
          </a:p>
        </p:txBody>
      </p:sp>
      <p:sp>
        <p:nvSpPr>
          <p:cNvPr id="29" name="Text 21"/>
          <p:cNvSpPr/>
          <p:nvPr/>
        </p:nvSpPr>
        <p:spPr>
          <a:xfrm>
            <a:off x="502920" y="449884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4DE74B8-073B-CBA0-C1FC-3DA978854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1063670"/>
            <a:ext cx="2844155" cy="1749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Bar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Future Work</a:t>
            </a:r>
          </a:p>
        </p:txBody>
      </p:sp>
      <p:sp>
        <p:nvSpPr>
          <p:cNvPr id="10" name="Card1Bg"/>
          <p:cNvSpPr/>
          <p:nvPr/>
        </p:nvSpPr>
        <p:spPr>
          <a:xfrm>
            <a:off x="384048" y="1050000"/>
            <a:ext cx="2600000" cy="31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2Bg"/>
          <p:cNvSpPr/>
          <p:nvPr/>
        </p:nvSpPr>
        <p:spPr>
          <a:xfrm>
            <a:off x="3172024" y="1050000"/>
            <a:ext cx="2600000" cy="31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3Bg"/>
          <p:cNvSpPr/>
          <p:nvPr/>
        </p:nvSpPr>
        <p:spPr>
          <a:xfrm>
            <a:off x="5960000" y="1050000"/>
            <a:ext cx="2600000" cy="31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Num1"/>
          <p:cNvSpPr/>
          <p:nvPr/>
        </p:nvSpPr>
        <p:spPr>
          <a:xfrm>
            <a:off x="484048" y="1130000"/>
            <a:ext cx="460000" cy="460000"/>
          </a:xfrm>
          <a:prstGeom prst="ellipse">
            <a:avLst/>
          </a:prstGeom>
          <a:solidFill>
            <a:srgbClr val="1A7A8A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1" name="Num2"/>
          <p:cNvSpPr/>
          <p:nvPr/>
        </p:nvSpPr>
        <p:spPr>
          <a:xfrm>
            <a:off x="3272024" y="1130000"/>
            <a:ext cx="460000" cy="460000"/>
          </a:xfrm>
          <a:prstGeom prst="ellipse">
            <a:avLst/>
          </a:prstGeom>
          <a:solidFill>
            <a:srgbClr val="C0392B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22" name="Num3"/>
          <p:cNvSpPr/>
          <p:nvPr/>
        </p:nvSpPr>
        <p:spPr>
          <a:xfrm>
            <a:off x="6060000" y="1130000"/>
            <a:ext cx="460000" cy="460000"/>
          </a:xfrm>
          <a:prstGeom prst="ellipse">
            <a:avLst/>
          </a:prstGeom>
          <a:solidFill>
            <a:srgbClr val="0D1B2A"/>
          </a:solidFill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0" name="Card1Header"/>
          <p:cNvSpPr/>
          <p:nvPr/>
        </p:nvSpPr>
        <p:spPr>
          <a:xfrm>
            <a:off x="484048" y="1660000"/>
            <a:ext cx="2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XGBoost Matchup Predictor</a:t>
            </a:r>
          </a:p>
        </p:txBody>
      </p:sp>
      <p:sp>
        <p:nvSpPr>
          <p:cNvPr id="31" name="Card2Header"/>
          <p:cNvSpPr/>
          <p:nvPr/>
        </p:nvSpPr>
        <p:spPr>
          <a:xfrm>
            <a:off x="3272024" y="1660000"/>
            <a:ext cx="2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Fine-Tuned Narration Model</a:t>
            </a:r>
          </a:p>
        </p:txBody>
      </p:sp>
      <p:sp>
        <p:nvSpPr>
          <p:cNvPr id="32" name="Card3Header"/>
          <p:cNvSpPr/>
          <p:nvPr/>
        </p:nvSpPr>
        <p:spPr>
          <a:xfrm>
            <a:off x="6060000" y="1660000"/>
            <a:ext cx="2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Stable Sentiment Pipeline</a:t>
            </a:r>
          </a:p>
        </p:txBody>
      </p:sp>
      <p:sp>
        <p:nvSpPr>
          <p:cNvPr id="40" name="Card1Body"/>
          <p:cNvSpPr/>
          <p:nvPr/>
        </p:nvSpPr>
        <p:spPr>
          <a:xfrm>
            <a:off x="484048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</a:rPr>
              <a:t>Train XGBoost on Statcast pitcher-batter matchup data to predict strikeout totals pre-game. Shadow tracker infrastructure is already in place to log predicted vs. actual box score results and compute MAE as data accumulates.</a:t>
            </a:r>
          </a:p>
        </p:txBody>
      </p:sp>
      <p:sp>
        <p:nvSpPr>
          <p:cNvPr id="41" name="Card2Body"/>
          <p:cNvSpPr/>
          <p:nvPr/>
        </p:nvSpPr>
        <p:spPr>
          <a:xfrm>
            <a:off x="3272024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</a:rPr>
              <a:t>Fine-tune Llama 3.1 on FanGraphs articles and Baseball Prospectus so the model narrates like a real analyst. Keeps all RAG grounding benefits while replacing generic LLM prose with baseball-native vocabulary and tone.</a:t>
            </a:r>
          </a:p>
        </p:txBody>
      </p:sp>
      <p:sp>
        <p:nvSpPr>
          <p:cNvPr id="42" name="Card3Body"/>
          <p:cNvSpPr/>
          <p:nvPr/>
        </p:nvSpPr>
        <p:spPr>
          <a:xfrm>
            <a:off x="6060000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</a:rPr>
              <a:t>Replace brittle Reddit scraping with a fine-tuned NLP classifier that labels posts as confirmed injury, unverified rumor, or fan speculation. More reliable qualitative signal, less noise entering ChromaDB retrieval.</a:t>
            </a:r>
          </a:p>
        </p:txBody>
      </p:sp>
      <p:sp>
        <p:nvSpPr>
          <p:cNvPr id="50" name="BottomBar"/>
          <p:cNvSpPr/>
          <p:nvPr/>
        </p:nvSpPr>
        <p:spPr>
          <a:xfrm>
            <a:off x="384048" y="4498848"/>
            <a:ext cx="8366760" cy="429768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BottomText"/>
          <p:cNvSpPr/>
          <p:nvPr/>
        </p:nvSpPr>
        <p:spPr>
          <a:xfrm>
            <a:off x="502920" y="449884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</a:rPr>
              <a:t>The pipeline is built. These extensions add prediction, voice, and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81E1-F6A9-E0AA-CE25-889935E2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Bar">
            <a:extLst>
              <a:ext uri="{FF2B5EF4-FFF2-40B4-BE49-F238E27FC236}">
                <a16:creationId xmlns:a16="http://schemas.microsoft.com/office/drawing/2014/main" id="{CF1020E2-7DF2-3AD4-FF4D-6B57AD61CAA4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4282D2E-5F89-3FB0-B3A8-25AB0F9F7CF5}"/>
              </a:ext>
            </a:extLst>
          </p:cNvPr>
          <p:cNvSpPr/>
          <p:nvPr/>
        </p:nvSpPr>
        <p:spPr>
          <a:xfrm>
            <a:off x="502920" y="73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b="1" dirty="0">
              <a:solidFill>
                <a:srgbClr val="FFFFFF"/>
              </a:solidFill>
              <a:latin typeface="Georgia" pitchFamily="34" charset="0"/>
            </a:endParaRPr>
          </a:p>
        </p:txBody>
      </p:sp>
      <p:sp>
        <p:nvSpPr>
          <p:cNvPr id="30" name="Card1Header">
            <a:extLst>
              <a:ext uri="{FF2B5EF4-FFF2-40B4-BE49-F238E27FC236}">
                <a16:creationId xmlns:a16="http://schemas.microsoft.com/office/drawing/2014/main" id="{00B60A8E-096C-D22F-154C-FC0E85B20957}"/>
              </a:ext>
            </a:extLst>
          </p:cNvPr>
          <p:cNvSpPr/>
          <p:nvPr/>
        </p:nvSpPr>
        <p:spPr>
          <a:xfrm>
            <a:off x="1500858" y="1660000"/>
            <a:ext cx="2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b="1" dirty="0">
              <a:solidFill>
                <a:srgbClr val="0D1B2A"/>
              </a:solidFill>
              <a:latin typeface="Calibri" pitchFamily="34" charset="0"/>
            </a:endParaRPr>
          </a:p>
        </p:txBody>
      </p:sp>
      <p:sp>
        <p:nvSpPr>
          <p:cNvPr id="31" name="Card2Header">
            <a:extLst>
              <a:ext uri="{FF2B5EF4-FFF2-40B4-BE49-F238E27FC236}">
                <a16:creationId xmlns:a16="http://schemas.microsoft.com/office/drawing/2014/main" id="{73EAF76F-8426-EB7F-6293-00D1DEBA298A}"/>
              </a:ext>
            </a:extLst>
          </p:cNvPr>
          <p:cNvSpPr/>
          <p:nvPr/>
        </p:nvSpPr>
        <p:spPr>
          <a:xfrm>
            <a:off x="2536487" y="1657016"/>
            <a:ext cx="4381790" cy="128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</a:rPr>
              <a:t>THANK YOU!!</a:t>
            </a:r>
          </a:p>
        </p:txBody>
      </p:sp>
      <p:sp>
        <p:nvSpPr>
          <p:cNvPr id="32" name="Card3Header">
            <a:extLst>
              <a:ext uri="{FF2B5EF4-FFF2-40B4-BE49-F238E27FC236}">
                <a16:creationId xmlns:a16="http://schemas.microsoft.com/office/drawing/2014/main" id="{77A3FF3E-5EBD-0406-6A1A-80929E64BF7E}"/>
              </a:ext>
            </a:extLst>
          </p:cNvPr>
          <p:cNvSpPr/>
          <p:nvPr/>
        </p:nvSpPr>
        <p:spPr>
          <a:xfrm>
            <a:off x="6060000" y="1660000"/>
            <a:ext cx="2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b="1" dirty="0">
              <a:solidFill>
                <a:srgbClr val="0D1B2A"/>
              </a:solidFill>
              <a:latin typeface="Calibri" pitchFamily="34" charset="0"/>
            </a:endParaRPr>
          </a:p>
        </p:txBody>
      </p:sp>
      <p:sp>
        <p:nvSpPr>
          <p:cNvPr id="40" name="Card1Body">
            <a:extLst>
              <a:ext uri="{FF2B5EF4-FFF2-40B4-BE49-F238E27FC236}">
                <a16:creationId xmlns:a16="http://schemas.microsoft.com/office/drawing/2014/main" id="{64F47C96-71A8-E26A-B666-43B7A07EC073}"/>
              </a:ext>
            </a:extLst>
          </p:cNvPr>
          <p:cNvSpPr/>
          <p:nvPr/>
        </p:nvSpPr>
        <p:spPr>
          <a:xfrm>
            <a:off x="1500858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solidFill>
                <a:srgbClr val="36454F"/>
              </a:solidFill>
              <a:latin typeface="Calibri" pitchFamily="34" charset="0"/>
            </a:endParaRPr>
          </a:p>
        </p:txBody>
      </p:sp>
      <p:sp>
        <p:nvSpPr>
          <p:cNvPr id="41" name="Card2Body">
            <a:extLst>
              <a:ext uri="{FF2B5EF4-FFF2-40B4-BE49-F238E27FC236}">
                <a16:creationId xmlns:a16="http://schemas.microsoft.com/office/drawing/2014/main" id="{47263EA0-14E3-494E-BB9A-EDD8958F6ECE}"/>
              </a:ext>
            </a:extLst>
          </p:cNvPr>
          <p:cNvSpPr/>
          <p:nvPr/>
        </p:nvSpPr>
        <p:spPr>
          <a:xfrm>
            <a:off x="5553905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solidFill>
                <a:srgbClr val="36454F"/>
              </a:solidFill>
              <a:latin typeface="Calibri" pitchFamily="34" charset="0"/>
            </a:endParaRPr>
          </a:p>
        </p:txBody>
      </p:sp>
      <p:sp>
        <p:nvSpPr>
          <p:cNvPr id="42" name="Card3Body">
            <a:extLst>
              <a:ext uri="{FF2B5EF4-FFF2-40B4-BE49-F238E27FC236}">
                <a16:creationId xmlns:a16="http://schemas.microsoft.com/office/drawing/2014/main" id="{B100EDE0-B5E9-AC5C-C8D0-72A9A50ADC99}"/>
              </a:ext>
            </a:extLst>
          </p:cNvPr>
          <p:cNvSpPr/>
          <p:nvPr/>
        </p:nvSpPr>
        <p:spPr>
          <a:xfrm>
            <a:off x="6060000" y="2100000"/>
            <a:ext cx="24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>
              <a:solidFill>
                <a:srgbClr val="36454F"/>
              </a:solidFill>
              <a:latin typeface="Calibri" pitchFamily="34" charset="0"/>
            </a:endParaRPr>
          </a:p>
        </p:txBody>
      </p:sp>
      <p:sp>
        <p:nvSpPr>
          <p:cNvPr id="51" name="BottomText">
            <a:extLst>
              <a:ext uri="{FF2B5EF4-FFF2-40B4-BE49-F238E27FC236}">
                <a16:creationId xmlns:a16="http://schemas.microsoft.com/office/drawing/2014/main" id="{E42CF967-BC7D-66C7-383F-19F17E969EC0}"/>
              </a:ext>
            </a:extLst>
          </p:cNvPr>
          <p:cNvSpPr/>
          <p:nvPr/>
        </p:nvSpPr>
        <p:spPr>
          <a:xfrm>
            <a:off x="502920" y="449884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</a:rPr>
              <a:t>These extensions would add prediction and voice!</a:t>
            </a:r>
          </a:p>
        </p:txBody>
      </p:sp>
    </p:spTree>
    <p:extLst>
      <p:ext uri="{BB962C8B-B14F-4D97-AF65-F5344CB8AC3E}">
        <p14:creationId xmlns:p14="http://schemas.microsoft.com/office/powerpoint/2010/main" val="324021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411</Words>
  <Application>Microsoft Office PowerPoint</Application>
  <PresentationFormat>On-screen Show (16:9)</PresentationFormat>
  <Paragraphs>60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IQ</dc:title>
  <dc:subject>PptxGenJS Presentation</dc:subject>
  <dc:creator>PptxGenJS</dc:creator>
  <cp:lastModifiedBy>Dave Nguyen</cp:lastModifiedBy>
  <cp:revision>12</cp:revision>
  <dcterms:created xsi:type="dcterms:W3CDTF">2026-04-28T19:44:57Z</dcterms:created>
  <dcterms:modified xsi:type="dcterms:W3CDTF">2026-04-29T17:38:14Z</dcterms:modified>
</cp:coreProperties>
</file>